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0A97-DBD8-7198-2402-1C47F31C1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8D705-2E20-86F4-1C9C-75E06450C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35ABD-0C0F-C3E3-FE4C-E4857F0CE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5BACC-74A7-E88C-B911-216C7FCC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089AF-86B4-1756-458F-094CBEC7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9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96FA-BC80-227D-299E-F2A618AF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CA687-AEDA-C349-7EE5-07D33222A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81141-D539-733E-DE17-FD97C95F2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E018C-206F-FE20-E198-B1842DD5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23FC7-A651-67DC-08E2-AF9160A5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74D7-FAAC-27E6-1AE6-D5DE6E96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C5E58-18DF-AA7F-A88F-0682D717F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02DD1-B2DB-F7E6-7D7F-B175F01B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89534-FA70-B29D-86D7-C71E9BF9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FE08E-33BA-5061-A4D6-32899FC5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4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25DC-66EA-E1E5-6A8B-EB1335E9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413D0-2D05-EE74-2A0D-EF87044FB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E8967-2399-50F7-ED0E-286D79A19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4FE6A-BF6A-013A-E426-1CDFF1F4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F5167-48D5-90DE-45ED-5439122C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DD30F-4BE3-73D4-DC73-A86980B7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9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2A05-8B8F-93A2-60B7-D1F63C2AD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B2D8A-1801-43A6-E35A-FEA59C37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D735F-9500-5BE9-9D6D-8D9731FF9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D0D74-F3E5-17F0-5BAA-A3ECDF63A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CA9A2-E97F-5B45-685F-1158F9FD6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09A7EC-9855-CCFF-EA65-217C6525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8936D-B3A7-B1A0-F96A-379DF19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36876B-6118-95C9-30A5-91EB34B4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0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AAD01-2681-645B-A8E1-20E66CA2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5DE51-8DAC-4F54-8CDF-A3853459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37EE3-4296-C4D5-BB04-AB3113AD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58963-105E-4376-04E3-390D2AB0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505FB-1301-9CD1-728E-3657C2D5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8459C-EFE2-DDCC-74FF-90055004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50488-12F5-8A7F-C551-DA5084C8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9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D472-6498-2CE8-8743-3900E0879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EBC4C-B8FC-BD5E-4A43-2AB0372AD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73FB1-E197-9061-4D10-A52E914B5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15F40-0565-AD3D-26F9-045A6803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F5EC1-AAA4-C649-B728-F2D8762D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1ED18-3E02-F68D-AF60-07B2FC4F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02E3-E8EB-48B8-AA06-3876D186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26308-7530-09F3-8FBC-EF9868D97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5A264-11CA-39A9-2CF0-E27A2E2B3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BCD2C-66FD-6714-0229-E1A03F06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70BD6-E6A4-D34C-BA6B-340188B5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44395-1609-D4DA-E315-EF34442A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5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B75A-0FBB-D7F3-E1C7-7ED8938C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6449A-84FC-DE0B-1477-F13FACF50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69F48-F2FA-3FBE-A7A7-B7083E85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8CAF-6C11-D642-BFA5-44B6B332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09FB-0511-BBB2-39E8-08152DCD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8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06A16-FF7D-D84E-5B5D-4CA228017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03411-1C14-69A3-BD5F-1B33A6760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6A1E3-D8B0-8DF8-CA92-55021342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93814-4A23-BCD5-E508-10147717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162F4-915B-21C1-BC25-306233CD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6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EAE51-191D-E921-DEB4-5492EA80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639A8-8E74-4A18-2235-F01510BE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B4995-865E-E887-F0FD-F1CB12896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B6B00-DE76-49FA-BAD2-B94B1E3F92F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F94A0-AA6F-E435-0670-DE050B9A6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19A9E-7E7E-E731-9B0F-26597D821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30F38-EC14-40E8-8054-3354ED2C1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6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DA6F2-58F6-FDCA-112A-10F7665E0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108156"/>
            <a:ext cx="11936361" cy="66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8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A2A0C8-A62A-57E2-4123-3EF264D95968}"/>
              </a:ext>
            </a:extLst>
          </p:cNvPr>
          <p:cNvSpPr txBox="1"/>
          <p:nvPr/>
        </p:nvSpPr>
        <p:spPr>
          <a:xfrm>
            <a:off x="127819" y="100469"/>
            <a:ext cx="9586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Machine Learning Model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C82FD-56DC-D449-3B1C-B4CB0189040E}"/>
              </a:ext>
            </a:extLst>
          </p:cNvPr>
          <p:cNvSpPr txBox="1"/>
          <p:nvPr/>
        </p:nvSpPr>
        <p:spPr>
          <a:xfrm>
            <a:off x="127819" y="1488172"/>
            <a:ext cx="11887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1.1 Data Preprocessing</a:t>
            </a:r>
          </a:p>
          <a:p>
            <a:pPr>
              <a:buNone/>
            </a:pPr>
            <a:r>
              <a:rPr lang="en-US" dirty="0"/>
              <a:t>Before training the machine learning models, the dataset was preprocessed to remove unnecessary features and convert categorical variables into numerical values.</a:t>
            </a:r>
          </a:p>
          <a:p>
            <a:pPr>
              <a:buNone/>
            </a:pPr>
            <a:r>
              <a:rPr lang="en-US" b="1" dirty="0"/>
              <a:t>Feature Selection</a:t>
            </a:r>
          </a:p>
          <a:p>
            <a:pPr>
              <a:buNone/>
            </a:pPr>
            <a:r>
              <a:rPr lang="en-US" dirty="0"/>
              <a:t>The following columns were removed because they were either unique identifiers, constant values, or not useful for prediction: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FLAG_MOBIL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DAYS_BIRTH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DAYS_EMPLOYED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56414F-DA96-1992-8177-FD4D58B67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0494"/>
            <a:ext cx="11484077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6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B1401A-6169-A16D-F939-C4ED9CCD0D07}"/>
              </a:ext>
            </a:extLst>
          </p:cNvPr>
          <p:cNvSpPr txBox="1"/>
          <p:nvPr/>
        </p:nvSpPr>
        <p:spPr>
          <a:xfrm>
            <a:off x="117986" y="81030"/>
            <a:ext cx="116118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Label Encoding</a:t>
            </a:r>
          </a:p>
          <a:p>
            <a:pPr>
              <a:buNone/>
            </a:pPr>
            <a:r>
              <a:rPr lang="en-US" dirty="0"/>
              <a:t>Since machine learning algorithms require numerical input, categorical columns were converted into numerical values using </a:t>
            </a:r>
            <a:r>
              <a:rPr lang="en-US" b="1" dirty="0" err="1"/>
              <a:t>LabelEncoder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 encoded columns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CODE_GENDER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FLAG_OWN_CAR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FLAG_OWN_REALTY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NAME_INCOME_TYPE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NAME_EDUCATION_TYPE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NAME_FAMILY_STATUS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NAME_HOUSING_TYPE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OCCUPATION_TYPE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B263A-1EF7-8FED-75C0-4F3A94717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6" y="3693716"/>
            <a:ext cx="12192000" cy="24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2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30106-02AA-E16C-D8E8-02EA9C0F5F91}"/>
              </a:ext>
            </a:extLst>
          </p:cNvPr>
          <p:cNvSpPr txBox="1"/>
          <p:nvPr/>
        </p:nvSpPr>
        <p:spPr>
          <a:xfrm>
            <a:off x="0" y="523959"/>
            <a:ext cx="11189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1.2 Feature and Target Selection</a:t>
            </a:r>
          </a:p>
          <a:p>
            <a:pPr>
              <a:buNone/>
            </a:pPr>
            <a:r>
              <a:rPr lang="en-US" dirty="0"/>
              <a:t>The predictor variables (X) and target variable (y) were separated.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Independent Variables (X): All features except CREDIT_RISK and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Dependent Variable (y): CREDIT_RISK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E7405-9E2B-C8D5-3AE3-A2742CA26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9408"/>
            <a:ext cx="11916697" cy="7335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2C206B3-3198-FD79-FD28-D5021089038D}"/>
              </a:ext>
            </a:extLst>
          </p:cNvPr>
          <p:cNvSpPr txBox="1"/>
          <p:nvPr/>
        </p:nvSpPr>
        <p:spPr>
          <a:xfrm>
            <a:off x="0" y="2964425"/>
            <a:ext cx="10373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1.3 Train-Test Split</a:t>
            </a:r>
          </a:p>
          <a:p>
            <a:pPr>
              <a:buNone/>
            </a:pPr>
            <a:r>
              <a:rPr lang="en-US" dirty="0"/>
              <a:t>The dataset was divided into training and testing sets using an 80:20 ratio.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3EB807-A6FC-BB18-ED89-A9D2BC8B3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0" y="3610756"/>
            <a:ext cx="11820688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3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251961-43ED-F3F9-F635-6C4AEB3A8FC4}"/>
              </a:ext>
            </a:extLst>
          </p:cNvPr>
          <p:cNvSpPr txBox="1"/>
          <p:nvPr/>
        </p:nvSpPr>
        <p:spPr>
          <a:xfrm>
            <a:off x="0" y="2308122"/>
            <a:ext cx="118206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Logistic Regression achieved a </a:t>
            </a:r>
            <a:r>
              <a:rPr lang="en-US" b="1" dirty="0"/>
              <a:t>high classification accuracy of 98.96%</a:t>
            </a:r>
            <a:r>
              <a:rPr lang="en-US" dirty="0"/>
              <a:t> on the test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model is simple, computationally efficient, and easy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It showed </a:t>
            </a:r>
            <a:r>
              <a:rPr lang="en-US" b="1" dirty="0"/>
              <a:t>consistent performance</a:t>
            </a:r>
            <a:r>
              <a:rPr lang="en-US" dirty="0"/>
              <a:t> during 15-fold cross-validation with a mean accuracy of </a:t>
            </a:r>
            <a:r>
              <a:rPr lang="en-US" b="1" dirty="0"/>
              <a:t>98.95%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close agreement between testing accuracy and cross-validation accuracy indicates that the model is stable and generalizes well to unseen data.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95F6C-7C96-E69A-6200-ACA0CF61918D}"/>
              </a:ext>
            </a:extLst>
          </p:cNvPr>
          <p:cNvSpPr txBox="1"/>
          <p:nvPr/>
        </p:nvSpPr>
        <p:spPr>
          <a:xfrm>
            <a:off x="1" y="583834"/>
            <a:ext cx="11820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1.4 Logistic Regression</a:t>
            </a:r>
          </a:p>
          <a:p>
            <a:pPr>
              <a:buNone/>
            </a:pPr>
            <a:r>
              <a:rPr lang="en-US" dirty="0"/>
              <a:t>Logistic Regression is a supervised classification algorithm that predicts the probability of a binary outcome.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EAEA41-CD4A-4FE8-107B-E96CBB4D0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3772"/>
            <a:ext cx="11820687" cy="10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2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4A1B68-D704-BD43-449B-7E7EBDBBA073}"/>
              </a:ext>
            </a:extLst>
          </p:cNvPr>
          <p:cNvSpPr txBox="1"/>
          <p:nvPr/>
        </p:nvSpPr>
        <p:spPr>
          <a:xfrm>
            <a:off x="0" y="0"/>
            <a:ext cx="12054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1.5 Random Forest Classifier</a:t>
            </a:r>
          </a:p>
          <a:p>
            <a:r>
              <a:rPr lang="en-US" dirty="0"/>
              <a:t>Random Forest is an ensemble learning algorithm that combines multiple decision trees to improve prediction accuracy.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4444C-36CB-95BF-B91C-91319769E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646331"/>
            <a:ext cx="11916696" cy="957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7BE5F9-EAEA-C989-C387-FF5C413D3AAC}"/>
              </a:ext>
            </a:extLst>
          </p:cNvPr>
          <p:cNvSpPr txBox="1"/>
          <p:nvPr/>
        </p:nvSpPr>
        <p:spPr>
          <a:xfrm>
            <a:off x="137651" y="1776868"/>
            <a:ext cx="8819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Hyperparameter Tuning using </a:t>
            </a:r>
            <a:r>
              <a:rPr lang="en-US" dirty="0" err="1"/>
              <a:t>GridSearchCV</a:t>
            </a:r>
            <a:r>
              <a:rPr lang="en-US" dirty="0"/>
              <a:t> for Random Forest Classifier</a:t>
            </a:r>
          </a:p>
          <a:p>
            <a:r>
              <a:rPr lang="en-US" dirty="0"/>
              <a:t>To improve the Random Forest model, </a:t>
            </a:r>
            <a:r>
              <a:rPr lang="en-US" dirty="0" err="1"/>
              <a:t>GridSearchCV</a:t>
            </a:r>
            <a:r>
              <a:rPr lang="en-US" dirty="0"/>
              <a:t> was used.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ECC056-7C4C-0F84-CB1E-4CB0DF0D9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" y="2423199"/>
            <a:ext cx="11916695" cy="14194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B5C6E7-11BE-905B-CD6A-D1067344475C}"/>
              </a:ext>
            </a:extLst>
          </p:cNvPr>
          <p:cNvSpPr txBox="1"/>
          <p:nvPr/>
        </p:nvSpPr>
        <p:spPr>
          <a:xfrm>
            <a:off x="137651" y="3940277"/>
            <a:ext cx="119166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Random Forest achieved a </a:t>
            </a:r>
            <a:r>
              <a:rPr lang="en-US" b="1" dirty="0"/>
              <a:t>high testing accuracy of 98.90%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model successfully identified both majority and minority class instances.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It obtained an </a:t>
            </a:r>
            <a:r>
              <a:rPr lang="en-US" b="1" dirty="0"/>
              <a:t>F1-score of 0.216</a:t>
            </a:r>
            <a:r>
              <a:rPr lang="en-US" dirty="0"/>
              <a:t>, demonstrating its capability to detect positive (credit-risk) cases.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model achieved a </a:t>
            </a:r>
            <a:r>
              <a:rPr lang="en-US" b="1" dirty="0"/>
              <a:t>15-fold cross-validation accuracy of 97.31%</a:t>
            </a:r>
            <a:r>
              <a:rPr lang="en-US" dirty="0"/>
              <a:t>, indicating reliable performance across different subsets of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Random Forest effectively handles complex relationships between features and reduces overfitting through ensemble learning. </a:t>
            </a:r>
          </a:p>
        </p:txBody>
      </p:sp>
    </p:spTree>
    <p:extLst>
      <p:ext uri="{BB962C8B-B14F-4D97-AF65-F5344CB8AC3E}">
        <p14:creationId xmlns:p14="http://schemas.microsoft.com/office/powerpoint/2010/main" val="267385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CFA8E1-041C-05F8-9C7B-E0EDB3B5ACB3}"/>
              </a:ext>
            </a:extLst>
          </p:cNvPr>
          <p:cNvSpPr txBox="1"/>
          <p:nvPr/>
        </p:nvSpPr>
        <p:spPr>
          <a:xfrm>
            <a:off x="88490" y="506642"/>
            <a:ext cx="118577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/>
              <a:t>GridSearchCV</a:t>
            </a:r>
            <a:r>
              <a:rPr lang="en-US" dirty="0"/>
              <a:t> automatically selected the optimal number of trees for the Random Forest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best parameter obtained was </a:t>
            </a:r>
            <a:r>
              <a:rPr lang="en-US" b="1" dirty="0" err="1"/>
              <a:t>n_estimators</a:t>
            </a:r>
            <a:r>
              <a:rPr lang="en-US" b="1" dirty="0"/>
              <a:t> = 500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tuned model achieved a </a:t>
            </a:r>
            <a:r>
              <a:rPr lang="en-US" b="1" dirty="0"/>
              <a:t>cross-validation accuracy of 98.81%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Hyperparameter tuning improved the model's robustness and optimized its predictive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Using 500 decision trees increased the stability and reliability of the Random Forest classifier.</a:t>
            </a:r>
          </a:p>
        </p:txBody>
      </p:sp>
    </p:spTree>
    <p:extLst>
      <p:ext uri="{BB962C8B-B14F-4D97-AF65-F5344CB8AC3E}">
        <p14:creationId xmlns:p14="http://schemas.microsoft.com/office/powerpoint/2010/main" val="621633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18836D-3EA7-A878-F8C4-B57874FB901C}"/>
              </a:ext>
            </a:extLst>
          </p:cNvPr>
          <p:cNvSpPr txBox="1"/>
          <p:nvPr/>
        </p:nvSpPr>
        <p:spPr>
          <a:xfrm>
            <a:off x="68825" y="914967"/>
            <a:ext cx="11956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1.6 </a:t>
            </a:r>
            <a:r>
              <a:rPr lang="en-US" b="1" dirty="0" err="1"/>
              <a:t>XGBoost</a:t>
            </a:r>
            <a:r>
              <a:rPr lang="en-US" b="1" dirty="0"/>
              <a:t> Classifier</a:t>
            </a:r>
          </a:p>
          <a:p>
            <a:pPr>
              <a:buNone/>
            </a:pPr>
            <a:r>
              <a:rPr lang="en-US" dirty="0"/>
              <a:t>Extreme Gradient Boosting (</a:t>
            </a:r>
            <a:r>
              <a:rPr lang="en-US" dirty="0" err="1"/>
              <a:t>XGBoost</a:t>
            </a:r>
            <a:r>
              <a:rPr lang="en-US" dirty="0"/>
              <a:t>) is an advanced ensemble algorithm that builds decision trees sequentially to improve prediction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9A02E-6D1E-34B4-54FA-DE34EC26D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3185"/>
            <a:ext cx="11857703" cy="1120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9B42C-F4FA-6C4A-A5E2-76B78073D532}"/>
              </a:ext>
            </a:extLst>
          </p:cNvPr>
          <p:cNvSpPr txBox="1"/>
          <p:nvPr/>
        </p:nvSpPr>
        <p:spPr>
          <a:xfrm>
            <a:off x="68825" y="3348219"/>
            <a:ext cx="117200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achieved the </a:t>
            </a:r>
            <a:r>
              <a:rPr lang="en-US" b="1" dirty="0"/>
              <a:t>highest testing accuracy of 98.97%</a:t>
            </a:r>
            <a:r>
              <a:rPr lang="en-US" dirty="0"/>
              <a:t> among all the evaluated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model obtained a </a:t>
            </a:r>
            <a:r>
              <a:rPr lang="en-US" b="1" dirty="0"/>
              <a:t>15-fold cross-validation accuracy of 98.36%</a:t>
            </a:r>
            <a:r>
              <a:rPr lang="en-US" dirty="0"/>
              <a:t>, indicating strong generalization ability.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is an advanced ensemble algorithm that efficiently captures complex patterns in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model provides fast and accurate predictions while maintaining excellent overall classification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Its high accuracy demonstrates its effectiveness in handling large-scale classification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328701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2A39AE-1E80-20C6-3E7B-9ADA86C13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54112"/>
              </p:ext>
            </p:extLst>
          </p:nvPr>
        </p:nvGraphicFramePr>
        <p:xfrm>
          <a:off x="196644" y="694214"/>
          <a:ext cx="10515600" cy="17373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076992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76430846"/>
                    </a:ext>
                  </a:extLst>
                </a:gridCol>
                <a:gridCol w="2733368">
                  <a:extLst>
                    <a:ext uri="{9D8B030D-6E8A-4147-A177-3AD203B41FA5}">
                      <a16:colId xmlns:a16="http://schemas.microsoft.com/office/drawing/2014/main" val="3426243510"/>
                    </a:ext>
                  </a:extLst>
                </a:gridCol>
                <a:gridCol w="2524432">
                  <a:extLst>
                    <a:ext uri="{9D8B030D-6E8A-4147-A177-3AD203B41FA5}">
                      <a16:colId xmlns:a16="http://schemas.microsoft.com/office/drawing/2014/main" val="3728804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 Validation 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10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270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5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0.157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2079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E9569F-A742-A362-67B4-29C063FCAB80}"/>
              </a:ext>
            </a:extLst>
          </p:cNvPr>
          <p:cNvSpPr txBox="1"/>
          <p:nvPr/>
        </p:nvSpPr>
        <p:spPr>
          <a:xfrm>
            <a:off x="196644" y="1594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5.11 Model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44895-27BE-212F-BAC5-F4DE119B21C9}"/>
              </a:ext>
            </a:extLst>
          </p:cNvPr>
          <p:cNvSpPr txBox="1"/>
          <p:nvPr/>
        </p:nvSpPr>
        <p:spPr>
          <a:xfrm>
            <a:off x="117986" y="2596993"/>
            <a:ext cx="119166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Three machine learning models—</a:t>
            </a:r>
            <a:r>
              <a:rPr lang="en-US" b="1" dirty="0"/>
              <a:t>Logistic Regression, Random Forest, and </a:t>
            </a:r>
            <a:r>
              <a:rPr lang="en-US" b="1" dirty="0" err="1"/>
              <a:t>XGBoost</a:t>
            </a:r>
            <a:r>
              <a:rPr lang="en-US" dirty="0"/>
              <a:t>—were implemented and evaluated for credit risk prediction. All models achieved </a:t>
            </a:r>
            <a:r>
              <a:rPr lang="en-US" b="1" dirty="0"/>
              <a:t>more than 98% accuracy</a:t>
            </a:r>
            <a:r>
              <a:rPr lang="en-US" dirty="0"/>
              <a:t>, demonstrating strong predictive performance. Logistic Regression provided a reliable baseline with consistent results, while Random Forest improved prediction through ensemble learning and further benefited from hyperparameter tuning using </a:t>
            </a:r>
            <a:r>
              <a:rPr lang="en-US" dirty="0" err="1"/>
              <a:t>GridSearchCV</a:t>
            </a:r>
            <a:r>
              <a:rPr lang="en-US" dirty="0"/>
              <a:t>. </a:t>
            </a:r>
            <a:r>
              <a:rPr lang="en-US" b="1" dirty="0" err="1"/>
              <a:t>XGBoost</a:t>
            </a:r>
            <a:r>
              <a:rPr lang="en-US" b="1" dirty="0"/>
              <a:t> achieved the highest accuracy of 98.97%</a:t>
            </a:r>
            <a:r>
              <a:rPr lang="en-US" dirty="0"/>
              <a:t>, making it the best-performing model. Overall, the results indicate that machine learning techniques can effectively predict credit risk and support better decision-making in financial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324807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urkude</dc:creator>
  <cp:lastModifiedBy>abhishek urkude</cp:lastModifiedBy>
  <cp:revision>1</cp:revision>
  <dcterms:created xsi:type="dcterms:W3CDTF">2026-08-07T14:12:20Z</dcterms:created>
  <dcterms:modified xsi:type="dcterms:W3CDTF">2026-08-07T14:12:44Z</dcterms:modified>
</cp:coreProperties>
</file>